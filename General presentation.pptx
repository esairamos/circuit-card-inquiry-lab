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Playfair Display"/>
      <p:regular r:id="rId15"/>
      <p:bold r:id="rId16"/>
      <p:italic r:id="rId17"/>
      <p:boldItalic r:id="rId18"/>
    </p:embeddedFont>
    <p:embeddedFont>
      <p:font typeface="La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11" Type="http://schemas.openxmlformats.org/officeDocument/2006/relationships/slide" Target="slides/slide6.xml"/><Relationship Id="rId22" Type="http://schemas.openxmlformats.org/officeDocument/2006/relationships/font" Target="fonts/Lato-boldItalic.fntdata"/><Relationship Id="rId10" Type="http://schemas.openxmlformats.org/officeDocument/2006/relationships/slide" Target="slides/slide5.xml"/><Relationship Id="rId21" Type="http://schemas.openxmlformats.org/officeDocument/2006/relationships/font" Target="fonts/Lato-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PlayfairDisplay-regular.fntdata"/><Relationship Id="rId14" Type="http://schemas.openxmlformats.org/officeDocument/2006/relationships/slide" Target="slides/slide9.xml"/><Relationship Id="rId17" Type="http://schemas.openxmlformats.org/officeDocument/2006/relationships/font" Target="fonts/PlayfairDisplay-italic.fntdata"/><Relationship Id="rId16" Type="http://schemas.openxmlformats.org/officeDocument/2006/relationships/font" Target="fonts/PlayfairDisplay-bold.fntdata"/><Relationship Id="rId5" Type="http://schemas.openxmlformats.org/officeDocument/2006/relationships/notesMaster" Target="notesMasters/notesMaster1.xml"/><Relationship Id="rId19" Type="http://schemas.openxmlformats.org/officeDocument/2006/relationships/font" Target="fonts/Lato-regular.fntdata"/><Relationship Id="rId6" Type="http://schemas.openxmlformats.org/officeDocument/2006/relationships/slide" Target="slides/slide1.xml"/><Relationship Id="rId18" Type="http://schemas.openxmlformats.org/officeDocument/2006/relationships/font" Target="fonts/PlayfairDisplay-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c6f73a04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c6f73a04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c6f73a04f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c6f73a04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c6f73a04f_0_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c6f73a04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c6f73a04f_0_1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c6f73a04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c6f73a04f_0_2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c6f73a04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c6f73a04f_0_2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c6f73a04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c6f73a04f_0_3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c6f73a04f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c6f73a04f_0_4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c6f73a04f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c6f73a04f_0_4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c6f73a04f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9050" y="748800"/>
            <a:ext cx="3645900" cy="3645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992950" y="992700"/>
            <a:ext cx="3158100" cy="3158100"/>
          </a:xfrm>
          <a:prstGeom prst="rect">
            <a:avLst/>
          </a:prstGeom>
          <a:noFill/>
          <a:ln cap="flat" cmpd="sng" w="28575">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096250" y="1627200"/>
            <a:ext cx="2951400" cy="1584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200"/>
              <a:buFont typeface="Lato"/>
              <a:buNone/>
              <a:defRPr>
                <a:solidFill>
                  <a:schemeClr val="lt1"/>
                </a:solidFill>
                <a:latin typeface="Lato"/>
                <a:ea typeface="Lato"/>
                <a:cs typeface="Lato"/>
                <a:sym typeface="Lato"/>
              </a:defRPr>
            </a:lvl1pPr>
            <a:lvl2pPr lvl="1" algn="ctr">
              <a:spcBef>
                <a:spcPts val="0"/>
              </a:spcBef>
              <a:spcAft>
                <a:spcPts val="0"/>
              </a:spcAft>
              <a:buClr>
                <a:schemeClr val="lt1"/>
              </a:buClr>
              <a:buSzPts val="3200"/>
              <a:buFont typeface="Lato"/>
              <a:buNone/>
              <a:defRPr>
                <a:solidFill>
                  <a:schemeClr val="lt1"/>
                </a:solidFill>
                <a:latin typeface="Lato"/>
                <a:ea typeface="Lato"/>
                <a:cs typeface="Lato"/>
                <a:sym typeface="Lato"/>
              </a:defRPr>
            </a:lvl2pPr>
            <a:lvl3pPr lvl="2" algn="ctr">
              <a:spcBef>
                <a:spcPts val="0"/>
              </a:spcBef>
              <a:spcAft>
                <a:spcPts val="0"/>
              </a:spcAft>
              <a:buClr>
                <a:schemeClr val="lt1"/>
              </a:buClr>
              <a:buSzPts val="3200"/>
              <a:buFont typeface="Lato"/>
              <a:buNone/>
              <a:defRPr>
                <a:solidFill>
                  <a:schemeClr val="lt1"/>
                </a:solidFill>
                <a:latin typeface="Lato"/>
                <a:ea typeface="Lato"/>
                <a:cs typeface="Lato"/>
                <a:sym typeface="Lato"/>
              </a:defRPr>
            </a:lvl3pPr>
            <a:lvl4pPr lvl="3" algn="ctr">
              <a:spcBef>
                <a:spcPts val="0"/>
              </a:spcBef>
              <a:spcAft>
                <a:spcPts val="0"/>
              </a:spcAft>
              <a:buClr>
                <a:schemeClr val="lt1"/>
              </a:buClr>
              <a:buSzPts val="3200"/>
              <a:buFont typeface="Lato"/>
              <a:buNone/>
              <a:defRPr>
                <a:solidFill>
                  <a:schemeClr val="lt1"/>
                </a:solidFill>
                <a:latin typeface="Lato"/>
                <a:ea typeface="Lato"/>
                <a:cs typeface="Lato"/>
                <a:sym typeface="Lato"/>
              </a:defRPr>
            </a:lvl4pPr>
            <a:lvl5pPr lvl="4" algn="ctr">
              <a:spcBef>
                <a:spcPts val="0"/>
              </a:spcBef>
              <a:spcAft>
                <a:spcPts val="0"/>
              </a:spcAft>
              <a:buClr>
                <a:schemeClr val="lt1"/>
              </a:buClr>
              <a:buSzPts val="3200"/>
              <a:buFont typeface="Lato"/>
              <a:buNone/>
              <a:defRPr>
                <a:solidFill>
                  <a:schemeClr val="lt1"/>
                </a:solidFill>
                <a:latin typeface="Lato"/>
                <a:ea typeface="Lato"/>
                <a:cs typeface="Lato"/>
                <a:sym typeface="Lato"/>
              </a:defRPr>
            </a:lvl5pPr>
            <a:lvl6pPr lvl="5" algn="ctr">
              <a:spcBef>
                <a:spcPts val="0"/>
              </a:spcBef>
              <a:spcAft>
                <a:spcPts val="0"/>
              </a:spcAft>
              <a:buClr>
                <a:schemeClr val="lt1"/>
              </a:buClr>
              <a:buSzPts val="3200"/>
              <a:buFont typeface="Lato"/>
              <a:buNone/>
              <a:defRPr>
                <a:solidFill>
                  <a:schemeClr val="lt1"/>
                </a:solidFill>
                <a:latin typeface="Lato"/>
                <a:ea typeface="Lato"/>
                <a:cs typeface="Lato"/>
                <a:sym typeface="Lato"/>
              </a:defRPr>
            </a:lvl6pPr>
            <a:lvl7pPr lvl="6" algn="ctr">
              <a:spcBef>
                <a:spcPts val="0"/>
              </a:spcBef>
              <a:spcAft>
                <a:spcPts val="0"/>
              </a:spcAft>
              <a:buClr>
                <a:schemeClr val="lt1"/>
              </a:buClr>
              <a:buSzPts val="3200"/>
              <a:buFont typeface="Lato"/>
              <a:buNone/>
              <a:defRPr>
                <a:solidFill>
                  <a:schemeClr val="lt1"/>
                </a:solidFill>
                <a:latin typeface="Lato"/>
                <a:ea typeface="Lato"/>
                <a:cs typeface="Lato"/>
                <a:sym typeface="Lato"/>
              </a:defRPr>
            </a:lvl7pPr>
            <a:lvl8pPr lvl="7" algn="ctr">
              <a:spcBef>
                <a:spcPts val="0"/>
              </a:spcBef>
              <a:spcAft>
                <a:spcPts val="0"/>
              </a:spcAft>
              <a:buClr>
                <a:schemeClr val="lt1"/>
              </a:buClr>
              <a:buSzPts val="3200"/>
              <a:buFont typeface="Lato"/>
              <a:buNone/>
              <a:defRPr>
                <a:solidFill>
                  <a:schemeClr val="lt1"/>
                </a:solidFill>
                <a:latin typeface="Lato"/>
                <a:ea typeface="Lato"/>
                <a:cs typeface="Lato"/>
                <a:sym typeface="Lato"/>
              </a:defRPr>
            </a:lvl8pPr>
            <a:lvl9pPr lvl="8" algn="ctr">
              <a:spcBef>
                <a:spcPts val="0"/>
              </a:spcBef>
              <a:spcAft>
                <a:spcPts val="0"/>
              </a:spcAft>
              <a:buClr>
                <a:schemeClr val="lt1"/>
              </a:buClr>
              <a:buSzPts val="3200"/>
              <a:buFont typeface="Lato"/>
              <a:buNone/>
              <a:defRPr>
                <a:solidFill>
                  <a:schemeClr val="lt1"/>
                </a:solidFill>
                <a:latin typeface="Lato"/>
                <a:ea typeface="Lato"/>
                <a:cs typeface="Lato"/>
                <a:sym typeface="Lato"/>
              </a:defRPr>
            </a:lvl9pPr>
          </a:lstStyle>
          <a:p/>
        </p:txBody>
      </p:sp>
      <p:sp>
        <p:nvSpPr>
          <p:cNvPr id="13" name="Google Shape;13;p2"/>
          <p:cNvSpPr txBox="1"/>
          <p:nvPr>
            <p:ph idx="1" type="subTitle"/>
          </p:nvPr>
        </p:nvSpPr>
        <p:spPr>
          <a:xfrm>
            <a:off x="3096363" y="3266930"/>
            <a:ext cx="2951400" cy="701400"/>
          </a:xfrm>
          <a:prstGeom prst="rect">
            <a:avLst/>
          </a:prstGeom>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1800"/>
              <a:buFont typeface="Playfair Display"/>
              <a:buNone/>
              <a:defRPr b="1">
                <a:solidFill>
                  <a:schemeClr val="lt1"/>
                </a:solidFill>
                <a:latin typeface="Playfair Display"/>
                <a:ea typeface="Playfair Display"/>
                <a:cs typeface="Playfair Display"/>
                <a:sym typeface="Playfair Display"/>
              </a:defRPr>
            </a:lvl1pPr>
            <a:lvl2pPr lvl="1"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2pPr>
            <a:lvl3pPr lvl="2"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3pPr>
            <a:lvl4pPr lvl="3"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4pPr>
            <a:lvl5pPr lvl="4"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5pPr>
            <a:lvl6pPr lvl="5"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6pPr>
            <a:lvl7pPr lvl="6"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7pPr>
            <a:lvl8pPr lvl="7"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8pPr>
            <a:lvl9pPr lvl="8"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9pPr>
          </a:lstStyle>
          <a:p/>
        </p:txBody>
      </p:sp>
      <p:sp>
        <p:nvSpPr>
          <p:cNvPr id="14" name="Google Shape;14;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sp>
        <p:nvSpPr>
          <p:cNvPr id="16" name="Google Shape;16;p3"/>
          <p:cNvSpPr txBox="1"/>
          <p:nvPr>
            <p:ph type="title"/>
          </p:nvPr>
        </p:nvSpPr>
        <p:spPr>
          <a:xfrm>
            <a:off x="509550" y="1423875"/>
            <a:ext cx="8124900" cy="17982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1pPr>
            <a:lvl2pPr lvl="1"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
        <p:nvSpPr>
          <p:cNvPr id="17" name="Google Shape;17;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391350"/>
            <a:ext cx="8520600" cy="626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0" name="Google Shape;30;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91378"/>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Font typeface="Lato"/>
              <a:buNone/>
              <a:defRPr b="0" sz="4800">
                <a:solidFill>
                  <a:schemeClr val="lt1"/>
                </a:solidFill>
                <a:latin typeface="Lato"/>
                <a:ea typeface="Lato"/>
                <a:cs typeface="Lato"/>
                <a:sym typeface="Lato"/>
              </a:defRPr>
            </a:lvl1pPr>
            <a:lvl2pPr lvl="1">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
        <p:nvSpPr>
          <p:cNvPr id="37" name="Google Shape;37;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1" name="Google Shape;41;p9"/>
          <p:cNvSpPr txBox="1"/>
          <p:nvPr>
            <p:ph type="title"/>
          </p:nvPr>
        </p:nvSpPr>
        <p:spPr>
          <a:xfrm>
            <a:off x="265500" y="1107950"/>
            <a:ext cx="4045200" cy="168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7" name="Google Shape;47;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1233100"/>
            <a:ext cx="8520600" cy="161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0000"/>
              <a:buFont typeface="Lato"/>
              <a:buNone/>
              <a:defRPr sz="10000">
                <a:latin typeface="Lato"/>
                <a:ea typeface="Lato"/>
                <a:cs typeface="Lato"/>
                <a:sym typeface="Lato"/>
              </a:defRPr>
            </a:lvl1pPr>
            <a:lvl2pPr lvl="1" algn="ctr">
              <a:spcBef>
                <a:spcPts val="0"/>
              </a:spcBef>
              <a:spcAft>
                <a:spcPts val="0"/>
              </a:spcAft>
              <a:buSzPts val="10000"/>
              <a:buFont typeface="Lato"/>
              <a:buNone/>
              <a:defRPr sz="10000">
                <a:latin typeface="Lato"/>
                <a:ea typeface="Lato"/>
                <a:cs typeface="Lato"/>
                <a:sym typeface="Lato"/>
              </a:defRPr>
            </a:lvl2pPr>
            <a:lvl3pPr lvl="2" algn="ctr">
              <a:spcBef>
                <a:spcPts val="0"/>
              </a:spcBef>
              <a:spcAft>
                <a:spcPts val="0"/>
              </a:spcAft>
              <a:buSzPts val="10000"/>
              <a:buFont typeface="Lato"/>
              <a:buNone/>
              <a:defRPr sz="10000">
                <a:latin typeface="Lato"/>
                <a:ea typeface="Lato"/>
                <a:cs typeface="Lato"/>
                <a:sym typeface="Lato"/>
              </a:defRPr>
            </a:lvl3pPr>
            <a:lvl4pPr lvl="3" algn="ctr">
              <a:spcBef>
                <a:spcPts val="0"/>
              </a:spcBef>
              <a:spcAft>
                <a:spcPts val="0"/>
              </a:spcAft>
              <a:buSzPts val="10000"/>
              <a:buFont typeface="Lato"/>
              <a:buNone/>
              <a:defRPr sz="10000">
                <a:latin typeface="Lato"/>
                <a:ea typeface="Lato"/>
                <a:cs typeface="Lato"/>
                <a:sym typeface="Lato"/>
              </a:defRPr>
            </a:lvl4pPr>
            <a:lvl5pPr lvl="4" algn="ctr">
              <a:spcBef>
                <a:spcPts val="0"/>
              </a:spcBef>
              <a:spcAft>
                <a:spcPts val="0"/>
              </a:spcAft>
              <a:buSzPts val="10000"/>
              <a:buFont typeface="Lato"/>
              <a:buNone/>
              <a:defRPr sz="10000">
                <a:latin typeface="Lato"/>
                <a:ea typeface="Lato"/>
                <a:cs typeface="Lato"/>
                <a:sym typeface="Lato"/>
              </a:defRPr>
            </a:lvl5pPr>
            <a:lvl6pPr lvl="5" algn="ctr">
              <a:spcBef>
                <a:spcPts val="0"/>
              </a:spcBef>
              <a:spcAft>
                <a:spcPts val="0"/>
              </a:spcAft>
              <a:buSzPts val="10000"/>
              <a:buFont typeface="Lato"/>
              <a:buNone/>
              <a:defRPr sz="10000">
                <a:latin typeface="Lato"/>
                <a:ea typeface="Lato"/>
                <a:cs typeface="Lato"/>
                <a:sym typeface="Lato"/>
              </a:defRPr>
            </a:lvl6pPr>
            <a:lvl7pPr lvl="6" algn="ctr">
              <a:spcBef>
                <a:spcPts val="0"/>
              </a:spcBef>
              <a:spcAft>
                <a:spcPts val="0"/>
              </a:spcAft>
              <a:buSzPts val="10000"/>
              <a:buFont typeface="Lato"/>
              <a:buNone/>
              <a:defRPr sz="10000">
                <a:latin typeface="Lato"/>
                <a:ea typeface="Lato"/>
                <a:cs typeface="Lato"/>
                <a:sym typeface="Lato"/>
              </a:defRPr>
            </a:lvl7pPr>
            <a:lvl8pPr lvl="7" algn="ctr">
              <a:spcBef>
                <a:spcPts val="0"/>
              </a:spcBef>
              <a:spcAft>
                <a:spcPts val="0"/>
              </a:spcAft>
              <a:buSzPts val="10000"/>
              <a:buFont typeface="Lato"/>
              <a:buNone/>
              <a:defRPr sz="10000">
                <a:latin typeface="Lato"/>
                <a:ea typeface="Lato"/>
                <a:cs typeface="Lato"/>
                <a:sym typeface="Lato"/>
              </a:defRPr>
            </a:lvl8pPr>
            <a:lvl9pPr lvl="8" algn="ctr">
              <a:spcBef>
                <a:spcPts val="0"/>
              </a:spcBef>
              <a:spcAft>
                <a:spcPts val="0"/>
              </a:spcAft>
              <a:buSzPts val="10000"/>
              <a:buFont typeface="Lato"/>
              <a:buNone/>
              <a:defRPr sz="10000">
                <a:latin typeface="Lato"/>
                <a:ea typeface="Lato"/>
                <a:cs typeface="Lato"/>
                <a:sym typeface="Lato"/>
              </a:defRPr>
            </a:lvl9pPr>
          </a:lstStyle>
          <a:p>
            <a:r>
              <a:t>xx%</a:t>
            </a:r>
          </a:p>
        </p:txBody>
      </p:sp>
      <p:sp>
        <p:nvSpPr>
          <p:cNvPr id="51" name="Google Shape;51;p11"/>
          <p:cNvSpPr txBox="1"/>
          <p:nvPr>
            <p:ph idx="1" type="body"/>
          </p:nvPr>
        </p:nvSpPr>
        <p:spPr>
          <a:xfrm>
            <a:off x="311700" y="29194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coral">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2pPr>
            <a:lvl3pPr lvl="2">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3pPr>
            <a:lvl4pPr lvl="3">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4pPr>
            <a:lvl5pPr lvl="4">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5pPr>
            <a:lvl6pPr lvl="5">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6pPr>
            <a:lvl7pPr lvl="6">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7pPr>
            <a:lvl8pPr lvl="7">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8pPr>
            <a:lvl9pPr lvl="8">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hyperlink" Target="https://www.ti.com/lit/an/slva372c/slva372c.pdf"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3096250" y="1627200"/>
            <a:ext cx="2951400" cy="1584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Circuit Card Inquiry lab</a:t>
            </a:r>
            <a:endParaRPr/>
          </a:p>
        </p:txBody>
      </p:sp>
      <p:sp>
        <p:nvSpPr>
          <p:cNvPr id="60" name="Google Shape;60;p13"/>
          <p:cNvSpPr txBox="1"/>
          <p:nvPr>
            <p:ph idx="1" type="subTitle"/>
          </p:nvPr>
        </p:nvSpPr>
        <p:spPr>
          <a:xfrm>
            <a:off x="3096363" y="3266930"/>
            <a:ext cx="2951400" cy="701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2400"/>
              <a:t>Esai C. Ramos</a:t>
            </a:r>
            <a:endParaRPr sz="2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509550" y="1423875"/>
            <a:ext cx="8124900" cy="1798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Introduction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a:t>
            </a:r>
            <a:endParaRPr/>
          </a:p>
        </p:txBody>
      </p:sp>
      <p:sp>
        <p:nvSpPr>
          <p:cNvPr id="71" name="Google Shape;71;p15"/>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0" lvl="0" marL="0" rtl="0" algn="just">
              <a:lnSpc>
                <a:spcPct val="150000"/>
              </a:lnSpc>
              <a:spcBef>
                <a:spcPts val="0"/>
              </a:spcBef>
              <a:spcAft>
                <a:spcPts val="1200"/>
              </a:spcAft>
              <a:buNone/>
            </a:pPr>
            <a:r>
              <a:rPr lang="en">
                <a:solidFill>
                  <a:srgbClr val="434343"/>
                </a:solidFill>
              </a:rPr>
              <a:t>The</a:t>
            </a:r>
            <a:r>
              <a:rPr b="1" lang="en">
                <a:solidFill>
                  <a:srgbClr val="434343"/>
                </a:solidFill>
              </a:rPr>
              <a:t> boost regulator</a:t>
            </a:r>
            <a:r>
              <a:rPr lang="en">
                <a:solidFill>
                  <a:srgbClr val="434343"/>
                </a:solidFill>
              </a:rPr>
              <a:t> is a switching regulator that produces a regulated DC voltage or current from a lower input voltage. The circuit employs a switch (SW1), inductor (I1), diode (D1), and output capacitor to achieve its functionality.</a:t>
            </a:r>
            <a:endParaRPr>
              <a:solidFill>
                <a:srgbClr val="434343"/>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Function of the Circuit</a:t>
            </a:r>
            <a:endParaRPr/>
          </a:p>
        </p:txBody>
      </p:sp>
      <p:sp>
        <p:nvSpPr>
          <p:cNvPr id="77" name="Google Shape;77;p1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just">
              <a:lnSpc>
                <a:spcPct val="150000"/>
              </a:lnSpc>
              <a:spcBef>
                <a:spcPts val="0"/>
              </a:spcBef>
              <a:spcAft>
                <a:spcPts val="1200"/>
              </a:spcAft>
              <a:buNone/>
            </a:pPr>
            <a:r>
              <a:rPr lang="en"/>
              <a:t>The</a:t>
            </a:r>
            <a:r>
              <a:rPr b="1" lang="en"/>
              <a:t> boost regulator</a:t>
            </a:r>
            <a:r>
              <a:rPr lang="en"/>
              <a:t> charges the inductor (I1) when the switch (SW1) is on. When SW1 turns off, the inductor's voltage rises rapidly until diode D1 conducts, charging the output capacitor. This process allows the output voltage to exceed the input voltage. A feedback loop adjusts the switch's duty cycle or frequency, maintaining the output voltage at the desired level.</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Applications</a:t>
            </a:r>
            <a:endParaRPr/>
          </a:p>
        </p:txBody>
      </p:sp>
      <p:sp>
        <p:nvSpPr>
          <p:cNvPr id="83" name="Google Shape;83;p17"/>
          <p:cNvSpPr txBox="1"/>
          <p:nvPr>
            <p:ph idx="1" type="body"/>
          </p:nvPr>
        </p:nvSpPr>
        <p:spPr>
          <a:xfrm>
            <a:off x="311700" y="1391378"/>
            <a:ext cx="2808000" cy="3179400"/>
          </a:xfrm>
          <a:prstGeom prst="rect">
            <a:avLst/>
          </a:prstGeom>
        </p:spPr>
        <p:txBody>
          <a:bodyPr anchorCtr="0" anchor="t" bIns="91425" lIns="91425" spcFirstLastPara="1" rIns="91425" wrap="square" tIns="91425">
            <a:normAutofit/>
          </a:bodyPr>
          <a:lstStyle/>
          <a:p>
            <a:pPr indent="0" lvl="0" marL="0" rtl="0" algn="just">
              <a:lnSpc>
                <a:spcPct val="150000"/>
              </a:lnSpc>
              <a:spcBef>
                <a:spcPts val="0"/>
              </a:spcBef>
              <a:spcAft>
                <a:spcPts val="1200"/>
              </a:spcAft>
              <a:buNone/>
            </a:pPr>
            <a:r>
              <a:rPr b="1" lang="en"/>
              <a:t>Boost regulators</a:t>
            </a:r>
            <a:r>
              <a:rPr lang="en"/>
              <a:t> find applications in electronic devices such as portable electronics, power supplies, and electric vehicles. Their ability to step up voltages makes them suitable for devices requiring higher voltage.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1249225"/>
            <a:ext cx="8520600" cy="1890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Advantages</a:t>
            </a:r>
            <a:endParaRPr/>
          </a:p>
        </p:txBody>
      </p:sp>
      <p:sp>
        <p:nvSpPr>
          <p:cNvPr id="89" name="Google Shape;89;p18"/>
          <p:cNvSpPr txBox="1"/>
          <p:nvPr>
            <p:ph idx="1" type="body"/>
          </p:nvPr>
        </p:nvSpPr>
        <p:spPr>
          <a:xfrm>
            <a:off x="311700" y="2919450"/>
            <a:ext cx="8582700" cy="1053600"/>
          </a:xfrm>
          <a:prstGeom prst="rect">
            <a:avLst/>
          </a:prstGeom>
        </p:spPr>
        <p:txBody>
          <a:bodyPr anchorCtr="0" anchor="t" bIns="91425" lIns="91425" spcFirstLastPara="1" rIns="91425" wrap="square" tIns="91425">
            <a:normAutofit/>
          </a:bodyPr>
          <a:lstStyle/>
          <a:p>
            <a:pPr indent="0" lvl="0" marL="0" rtl="0" algn="just">
              <a:lnSpc>
                <a:spcPct val="150000"/>
              </a:lnSpc>
              <a:spcBef>
                <a:spcPts val="0"/>
              </a:spcBef>
              <a:spcAft>
                <a:spcPts val="1200"/>
              </a:spcAft>
              <a:buNone/>
            </a:pPr>
            <a:r>
              <a:rPr lang="en"/>
              <a:t>The advantages of </a:t>
            </a:r>
            <a:r>
              <a:rPr b="1" lang="en"/>
              <a:t>boost regulators</a:t>
            </a:r>
            <a:r>
              <a:rPr lang="en"/>
              <a:t> include high efficiency, a boost in voltage levels, and compact size. They're useful when you need a stable and higher output voltage.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idx="4294967295" type="title"/>
          </p:nvPr>
        </p:nvSpPr>
        <p:spPr>
          <a:xfrm>
            <a:off x="773700" y="1663450"/>
            <a:ext cx="7596600" cy="7617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solidFill>
                  <a:schemeClr val="dk2"/>
                </a:solidFill>
              </a:rPr>
              <a:t>Disadvantages</a:t>
            </a:r>
            <a:endParaRPr>
              <a:solidFill>
                <a:schemeClr val="dk2"/>
              </a:solidFill>
            </a:endParaRPr>
          </a:p>
        </p:txBody>
      </p:sp>
      <p:cxnSp>
        <p:nvCxnSpPr>
          <p:cNvPr id="95" name="Google Shape;95;p19"/>
          <p:cNvCxnSpPr/>
          <p:nvPr/>
        </p:nvCxnSpPr>
        <p:spPr>
          <a:xfrm>
            <a:off x="4295550" y="2693400"/>
            <a:ext cx="552900" cy="0"/>
          </a:xfrm>
          <a:prstGeom prst="straightConnector1">
            <a:avLst/>
          </a:prstGeom>
          <a:noFill/>
          <a:ln cap="flat" cmpd="sng" w="28575">
            <a:solidFill>
              <a:schemeClr val="dk1"/>
            </a:solidFill>
            <a:prstDash val="solid"/>
            <a:round/>
            <a:headEnd len="sm" w="sm" type="none"/>
            <a:tailEnd len="sm" w="sm" type="none"/>
          </a:ln>
        </p:spPr>
      </p:cxnSp>
      <p:sp>
        <p:nvSpPr>
          <p:cNvPr id="96" name="Google Shape;96;p19"/>
          <p:cNvSpPr txBox="1"/>
          <p:nvPr>
            <p:ph idx="4294967295" type="body"/>
          </p:nvPr>
        </p:nvSpPr>
        <p:spPr>
          <a:xfrm>
            <a:off x="773700" y="2961650"/>
            <a:ext cx="7596600" cy="1480500"/>
          </a:xfrm>
          <a:prstGeom prst="rect">
            <a:avLst/>
          </a:prstGeom>
        </p:spPr>
        <p:txBody>
          <a:bodyPr anchorCtr="0" anchor="t" bIns="91425" lIns="91425" spcFirstLastPara="1" rIns="91425" wrap="square" tIns="91425">
            <a:normAutofit/>
          </a:bodyPr>
          <a:lstStyle/>
          <a:p>
            <a:pPr indent="0" lvl="0" marL="0" rtl="0" algn="just">
              <a:lnSpc>
                <a:spcPct val="150000"/>
              </a:lnSpc>
              <a:spcBef>
                <a:spcPts val="0"/>
              </a:spcBef>
              <a:spcAft>
                <a:spcPts val="0"/>
              </a:spcAft>
              <a:buNone/>
            </a:pPr>
            <a:r>
              <a:rPr lang="en"/>
              <a:t>Despite their advantages, </a:t>
            </a:r>
            <a:r>
              <a:rPr b="1" lang="en"/>
              <a:t>boost regulators</a:t>
            </a:r>
            <a:r>
              <a:rPr lang="en"/>
              <a:t> exhibit disadvantages such as increased electromagnetic interference (EMI), complex control circuitry, and potential efficiency loss at light loads.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490250" y="526350"/>
            <a:ext cx="3123300" cy="1400400"/>
          </a:xfrm>
          <a:prstGeom prst="rect">
            <a:avLst/>
          </a:prstGeom>
        </p:spPr>
        <p:txBody>
          <a:bodyPr anchorCtr="0" anchor="ctr" bIns="91425" lIns="91425" spcFirstLastPara="1" rIns="91425" wrap="square" tIns="91425">
            <a:normAutofit/>
          </a:bodyPr>
          <a:lstStyle/>
          <a:p>
            <a:pPr indent="0" lvl="0" marL="0" rtl="0" algn="just">
              <a:lnSpc>
                <a:spcPct val="150000"/>
              </a:lnSpc>
              <a:spcBef>
                <a:spcPts val="0"/>
              </a:spcBef>
              <a:spcAft>
                <a:spcPts val="0"/>
              </a:spcAft>
              <a:buNone/>
            </a:pPr>
            <a:r>
              <a:rPr b="1" lang="en"/>
              <a:t>Variations</a:t>
            </a:r>
            <a:endParaRPr b="1" sz="4800"/>
          </a:p>
        </p:txBody>
      </p:sp>
      <p:sp>
        <p:nvSpPr>
          <p:cNvPr id="102" name="Google Shape;102;p20"/>
          <p:cNvSpPr txBox="1"/>
          <p:nvPr>
            <p:ph type="title"/>
          </p:nvPr>
        </p:nvSpPr>
        <p:spPr>
          <a:xfrm>
            <a:off x="490250" y="1926750"/>
            <a:ext cx="8047800" cy="1208100"/>
          </a:xfrm>
          <a:prstGeom prst="rect">
            <a:avLst/>
          </a:prstGeom>
        </p:spPr>
        <p:txBody>
          <a:bodyPr anchorCtr="0" anchor="ctr" bIns="91425" lIns="91425" spcFirstLastPara="1" rIns="91425" wrap="square" tIns="91425">
            <a:noAutofit/>
          </a:bodyPr>
          <a:lstStyle/>
          <a:p>
            <a:pPr indent="0" lvl="0" marL="0" rtl="0" algn="just">
              <a:lnSpc>
                <a:spcPct val="150000"/>
              </a:lnSpc>
              <a:spcBef>
                <a:spcPts val="0"/>
              </a:spcBef>
              <a:spcAft>
                <a:spcPts val="0"/>
              </a:spcAft>
              <a:buNone/>
            </a:pPr>
            <a:r>
              <a:rPr lang="en" sz="1300"/>
              <a:t>Different variations of </a:t>
            </a:r>
            <a:r>
              <a:rPr b="1" lang="en" sz="1300"/>
              <a:t>boost regulators</a:t>
            </a:r>
            <a:r>
              <a:rPr lang="en" sz="1300"/>
              <a:t> exist, including synchronous boost converters, hysteretic boost converters, and integrated circuit (IC) solutions with unique features catering to specific application requirements.</a:t>
            </a:r>
            <a:endParaRPr sz="13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3000"/>
              <a:t>References |</a:t>
            </a:r>
            <a:endParaRPr sz="3000"/>
          </a:p>
        </p:txBody>
      </p:sp>
      <p:sp>
        <p:nvSpPr>
          <p:cNvPr id="108" name="Google Shape;108;p21"/>
          <p:cNvSpPr txBox="1"/>
          <p:nvPr>
            <p:ph idx="1" type="body"/>
          </p:nvPr>
        </p:nvSpPr>
        <p:spPr>
          <a:xfrm>
            <a:off x="311700" y="1391375"/>
            <a:ext cx="4689600" cy="2711400"/>
          </a:xfrm>
          <a:prstGeom prst="rect">
            <a:avLst/>
          </a:prstGeom>
        </p:spPr>
        <p:txBody>
          <a:bodyPr anchorCtr="0" anchor="t" bIns="91425" lIns="91425" spcFirstLastPara="1" rIns="91425" wrap="square" tIns="91425">
            <a:noAutofit/>
          </a:bodyPr>
          <a:lstStyle/>
          <a:p>
            <a:pPr indent="-298450" lvl="0" marL="457200" rtl="0" algn="just">
              <a:spcBef>
                <a:spcPts val="0"/>
              </a:spcBef>
              <a:spcAft>
                <a:spcPts val="0"/>
              </a:spcAft>
              <a:buSzPts val="1100"/>
              <a:buChar char="●"/>
            </a:pPr>
            <a:r>
              <a:rPr b="1" lang="en" sz="1100"/>
              <a:t>Texas Instruments. (2016). "Boost Converter (Step-Up) Basics." Retrieved from </a:t>
            </a:r>
            <a:r>
              <a:rPr b="1" lang="en" sz="1100" u="sng">
                <a:solidFill>
                  <a:schemeClr val="hlink"/>
                </a:solidFill>
                <a:hlinkClick r:id="rId3"/>
              </a:rPr>
              <a:t>https://www.ti.com/lit/an/slva372c/slva372c.pdf</a:t>
            </a:r>
            <a:r>
              <a:rPr b="1" lang="en" sz="1100"/>
              <a:t> </a:t>
            </a:r>
            <a:endParaRPr b="1" sz="1100"/>
          </a:p>
          <a:p>
            <a:pPr indent="-298450" lvl="0" marL="457200" rtl="0" algn="just">
              <a:spcBef>
                <a:spcPts val="0"/>
              </a:spcBef>
              <a:spcAft>
                <a:spcPts val="0"/>
              </a:spcAft>
              <a:buSzPts val="1100"/>
              <a:buChar char="●"/>
            </a:pPr>
            <a:r>
              <a:rPr b="1" lang="en" sz="1100"/>
              <a:t>Lee, J., Chen, X., &amp; Lee, F. C. (2008). "Analysis and Design of a Novel Boost Converter." IEEE Transactions on Power Electronics, 23(2), 629-639. </a:t>
            </a:r>
            <a:endParaRPr b="1" sz="1100"/>
          </a:p>
          <a:p>
            <a:pPr indent="-298450" lvl="0" marL="457200" rtl="0" algn="just">
              <a:spcBef>
                <a:spcPts val="0"/>
              </a:spcBef>
              <a:spcAft>
                <a:spcPts val="0"/>
              </a:spcAft>
              <a:buSzPts val="1100"/>
              <a:buChar char="●"/>
            </a:pPr>
            <a:r>
              <a:rPr b="1" lang="en" sz="1100"/>
              <a:t>Maksimović, D., &amp; Reay, N. W. (1990). "Control Techniques for DC-DC Converters Operating in Continuous Conduction Mode." IEEE Transactions on Power Electronics, 5(3), 239-247. </a:t>
            </a:r>
            <a:endParaRPr b="1" sz="1100"/>
          </a:p>
          <a:p>
            <a:pPr indent="-298450" lvl="0" marL="457200" rtl="0" algn="just">
              <a:spcBef>
                <a:spcPts val="0"/>
              </a:spcBef>
              <a:spcAft>
                <a:spcPts val="0"/>
              </a:spcAft>
              <a:buSzPts val="1100"/>
              <a:buChar char="●"/>
            </a:pPr>
            <a:r>
              <a:rPr b="1" lang="en" sz="1100"/>
              <a:t>Rashid, M. H. (2010). Power Electronics Handbook: Devices, Circuits, and Applications. Butterworth-Heinemann.</a:t>
            </a:r>
            <a:endParaRPr b="1" sz="1100"/>
          </a:p>
          <a:p>
            <a:pPr indent="-298450" lvl="0" marL="457200" rtl="0" algn="just">
              <a:spcBef>
                <a:spcPts val="0"/>
              </a:spcBef>
              <a:spcAft>
                <a:spcPts val="0"/>
              </a:spcAft>
              <a:buSzPts val="1100"/>
              <a:buChar char="●"/>
            </a:pPr>
            <a:r>
              <a:rPr b="1" lang="en" sz="1100"/>
              <a:t>Middlebrook, R. D. (1982). "Advantages and Disadvantages of Current-Mode Control." IEEE Transactions on Power Electronics, 23(2), 666-675</a:t>
            </a:r>
            <a:r>
              <a:rPr b="1" lang="en" sz="1100"/>
              <a:t>. </a:t>
            </a:r>
            <a:endParaRPr b="1" sz="1100"/>
          </a:p>
          <a:p>
            <a:pPr indent="-298450" lvl="0" marL="457200" rtl="0" algn="just">
              <a:spcBef>
                <a:spcPts val="0"/>
              </a:spcBef>
              <a:spcAft>
                <a:spcPts val="0"/>
              </a:spcAft>
              <a:buSzPts val="1100"/>
              <a:buChar char="●"/>
            </a:pPr>
            <a:r>
              <a:rPr b="1" lang="en" sz="1100"/>
              <a:t>Luo, F. L., &amp; Ye, H. (2004). "Integrated Inductor Design for a Synchronous Buck or Boost DC-DC Converter." IEEE Transactions on Power Electronics, 19(3), 741-748. </a:t>
            </a:r>
            <a:endParaRPr b="1" sz="1100"/>
          </a:p>
          <a:p>
            <a:pPr indent="0" lvl="0" marL="0" rtl="0" algn="l">
              <a:spcBef>
                <a:spcPts val="1200"/>
              </a:spcBef>
              <a:spcAft>
                <a:spcPts val="0"/>
              </a:spcAft>
              <a:buNone/>
            </a:pPr>
            <a:r>
              <a:t/>
            </a:r>
            <a:endParaRPr sz="1100"/>
          </a:p>
          <a:p>
            <a:pPr indent="0" lvl="0" marL="0" rtl="0" algn="l">
              <a:spcBef>
                <a:spcPts val="0"/>
              </a:spcBef>
              <a:spcAft>
                <a:spcPts val="0"/>
              </a:spcAft>
              <a:buNone/>
            </a:pPr>
            <a:r>
              <a:rPr lang="en" sz="1100"/>
              <a:t> </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Coral">
  <a:themeElements>
    <a:clrScheme name="Coral">
      <a:dk1>
        <a:srgbClr val="F55E61"/>
      </a:dk1>
      <a:lt1>
        <a:srgbClr val="FFFFFF"/>
      </a:lt1>
      <a:dk2>
        <a:srgbClr val="5E696C"/>
      </a:dk2>
      <a:lt2>
        <a:srgbClr val="BFC7CA"/>
      </a:lt2>
      <a:accent1>
        <a:srgbClr val="1E2D31"/>
      </a:accent1>
      <a:accent2>
        <a:srgbClr val="273C42"/>
      </a:accent2>
      <a:accent3>
        <a:srgbClr val="83D061"/>
      </a:accent3>
      <a:accent4>
        <a:srgbClr val="F6CD4C"/>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